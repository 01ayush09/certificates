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68910"/>
              </a:solidFill>
              <a:effectLst/>
            </c:spPr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Red</c:v>
                </c:pt>
                <c:pt idx="1">
                  <c:v>Amber</c:v>
                </c:pt>
                <c:pt idx="2">
                  <c:v>Green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Alpha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 8)</c:v>
                  </c:pt>
                  <c:pt idx="1">
                    <c:v>Wk 2 (Jun 15)</c:v>
                  </c:pt>
                  <c:pt idx="2">
                    <c:v>Wk 3 (Jun 22)</c:v>
                  </c:pt>
                  <c:pt idx="3">
                    <c:v>Wk 4 (Jun 29)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 Beta</c:v>
                </c:pt>
              </c:strCache>
            </c:strRef>
          </c:tx>
          <c:spPr>
            <a:solidFill>
              <a:srgbClr val="1E8449"/>
            </a:solidFill>
            <a:ln w="3810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 8)</c:v>
                  </c:pt>
                  <c:pt idx="1">
                    <c:v>Wk 2 (Jun 15)</c:v>
                  </c:pt>
                  <c:pt idx="2">
                    <c:v>Wk 3 (Jun 22)</c:v>
                  </c:pt>
                  <c:pt idx="3">
                    <c:v>Wk 4 (Jun 29)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 Gamma</c:v>
                </c:pt>
              </c:strCache>
            </c:strRef>
          </c:tx>
          <c:spPr>
            <a:solidFill>
              <a:srgbClr val="D68910"/>
            </a:solidFill>
            <a:ln w="381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 8)</c:v>
                  </c:pt>
                  <c:pt idx="1">
                    <c:v>Wk 2 (Jun 15)</c:v>
                  </c:pt>
                  <c:pt idx="2">
                    <c:v>Wk 3 (Jun 22)</c:v>
                  </c:pt>
                  <c:pt idx="3">
                    <c:v>Wk 4 (Jun 29)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B3A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Portfolio Health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— Client Program Portfolio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June 8 – June 29, 2026   |   Prepared for: Executive Sponsor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Where the portfolio stands as of the latest reporting week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463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536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40680" y="2029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Portfolio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2606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2679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(Project Alpha)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40680" y="3172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This Month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749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3822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(Project Gamma)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40680" y="4315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This Month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4892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4965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 project-weeks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40680" y="5458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w/ Negative Client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Analysis: Direction Matters More Than a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RAG trajectory across the last 4 weekly reporting cycles (2 = Green, 1 = Amber, 0 = Red)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58191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Project Alpha — Declining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Green for 2 weeks, then dropped to Red and stayed there. A single vendor dependency is now driving schedule, milestone, and blocker risk simultaneously.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8803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3044952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Project Beta — Stable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3291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Held Green for all 4 weeks. No portfolio action needed; useful as a delivery-pattern reference for other engagements.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43434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6680" y="4507992"/>
            <a:ext cx="164592" cy="164592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Project Gamma — Recovering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Dipped to Red in week 2 after a resourcing gap, then recovered once an owner was assigned. Model case for fast course-correction.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Risks Across the Portfolio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Patterns that would be missed by reviewing each project in isolation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Third-Party / Vendor Dependency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Two of three active projects (Alpha, Gamma) hit blockers tied to external parties or unassigned ownership this month. This is a portfolio-level delivery risk, not a one-off — consider a standing vendor/resourcing escalation path rather than per-project firefighting.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BEF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3246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Overspend Correlates With Schedule Slip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6118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Project Alpha's budget burn climbed to 114% of plan in the same week its schedule turned Red — spend is accelerating to chase a slipping date, which typically front-loads cost without recovering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Sentiment Is a Leading Indicator, Not a Lagging 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Client sentiment turned negative on Alpha one full week before the schedule/blocker status flipped to Red. Portfolio-wide, treating sentiment dips as an early-warning trigger — not just a symptom — would buy a week of lead 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Project Alpha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052560" y="411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0" y="411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STATUS: 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Schedule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2252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milestone(s) late: Vendor API integration, Security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Milestones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8470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2 milestones are overdue: Vendor API integration, Security review.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Blockers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blocker(s) open: Vendor API integration blocked - critical - 21 days open.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201168" cy="201168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Budget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0906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Spend is 113% of planned — overspending.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13048"/>
            <a:ext cx="201168" cy="201168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39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Sentiment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71246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Stakeholder tone is negative but not escalating.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B3A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Bottom line for the client conversation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single vendor's incomplete API documentation has now blocked integration work for 21 days, cascading into a missed security-review milestone and a go-live date that can no longer hold without intervention. This requires executive-to-executive escalation with the vendor, not another internal follow-up.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Actions for this coming month, in priority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Escalate the Project Alpha vendor blocker this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Bring the vendor's account executive into a joint call with our steering committee. Every week of delay is now compounding schedule, budget, and client-confidence risk together.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Stand up a standing vendor/resourcing risk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Two of three projects hit external-dependency blockers this month. A monthly cross-project check on vendor commitments and staffing gaps would catch this earlier than per-project reporting does.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794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Treat sentiment dips as an early trigger, not a footnote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On Alpha, negative sentiment preceded the Red status by a full week. Add a rule: two consecutive weeks of negative sentiment auto-triggers a PM check-in, regardless of the numeric RAG score.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Use Project Gamma's recovery as the internal playbook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303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Assigning clear ownership turned Gamma from Red to Green in two weeks. Document this as a fast-recovery pattern for other PMs facing similar resourcing gaps.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RAG Status Is Determined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Automated weekly scoring across five weighted signals, with escalation overrides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Schedule (25%)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% of tasks past their planned date; any late critical milestone forces 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Budget (20%)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35224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Actual vs. planned spend-to-date. Green 90–110%, Amber 70–90% / 110–130%, Red beyond that.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76088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Milestones (25%)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76088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Overdue milestones and those due within 2 weeks flagged at risk.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79792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16952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Blockers (20%)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Count, severity, and age of open blockers; any critical or 14+ day blocker escalates.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0656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57816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Sentiment (10%)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57816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PM/client narrative tone and week-over-week trend, classified automatically.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E69"/>
                </a:solidFill>
              </a:rPr>
              <a:t>Missing data is never treated as automatically Green — it is scored Amber and flagged for follow-up. Critical blockers or 2+ overdue milestones override the weighted score and force Red regardless of other signals.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</a:rPr>
              <a:t>Full methodology: RAG_METHODOLOGY.md  |  Agent source: /agent  |  Weekly reports: /outputs/weekly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Portfolio Health Review</dc:title>
  <dc:subject>PptxGenJS Presentation</dc:subject>
  <dc:creator>Professional Services PMO</dc:creator>
  <cp:lastModifiedBy>Professional Services PMO</cp:lastModifiedBy>
  <cp:revision>1</cp:revision>
  <dcterms:created xsi:type="dcterms:W3CDTF">2026-07-07T07:21:44Z</dcterms:created>
  <dcterms:modified xsi:type="dcterms:W3CDTF">2026-07-07T07:21:44Z</dcterms:modified>
</cp:coreProperties>
</file>